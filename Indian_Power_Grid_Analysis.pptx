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F4E79"/>
                </a:solidFill>
              </a:rPr>
              <a:t>Indian Power Grid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155680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solidFill>
                  <a:srgbClr val="282828"/>
                </a:solidFill>
              </a:rPr>
              <a:t>EDA, Linear Regression, SVD, PCA (2021-2023)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1" y="1828800"/>
            <a:ext cx="1127455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rPr sz="2800" dirty="0"/>
              <a:t>Dataset: Mendeley Data (2024) - Electricity Demand, Solar and Wind Generation Data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sz="2800" dirty="0"/>
              <a:t>Coverage: Sep 2021 to Dec 2023 (resampled to 5-minute intervals)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sz="2800" dirty="0"/>
              <a:t>Focus: Demand modeling using generation mix + time features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F4E79"/>
                </a:solidFill>
              </a:rPr>
              <a:t>Dataset and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155680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341229" cy="224676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rPr sz="2800" dirty="0"/>
              <a:t>Source: Mendeley Data (Mukherjee, Kalita, Kumar, 2024)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sz="2800" dirty="0"/>
              <a:t>Raw inputs: monthly Excel sheets in Datasets/ (Sep 2021 to Dec 2023)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sz="2800" dirty="0"/>
              <a:t>Combined CSV: energy_combined.csv (4,062,240 raw rows)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sz="2800" dirty="0"/>
              <a:t>Cleaned index: 245,376 rows at 5-minute frequency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sz="2800" dirty="0"/>
              <a:t>Target: NLDC demand (</a:t>
            </a:r>
            <a:r>
              <a:rPr sz="2800" dirty="0" err="1"/>
              <a:t>nldc_demand_mw</a:t>
            </a:r>
            <a:r>
              <a:rPr sz="2800" dirty="0"/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F4E79"/>
                </a:solidFill>
              </a:rPr>
              <a:t>Data Preparation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155680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9862508" cy="2677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457200" indent="-457200">
              <a:buFont typeface="+mj-lt"/>
              <a:buAutoNum type="arabicPeriod"/>
              <a:defRPr sz="2000">
                <a:solidFill>
                  <a:srgbClr val="282828"/>
                </a:solidFill>
              </a:defRPr>
            </a:pPr>
            <a:r>
              <a:rPr sz="2800" dirty="0"/>
              <a:t>Parse </a:t>
            </a:r>
            <a:r>
              <a:rPr sz="2800" dirty="0" err="1"/>
              <a:t>Date&amp;Time</a:t>
            </a:r>
            <a:r>
              <a:rPr sz="2800" dirty="0"/>
              <a:t>, sort, set as index</a:t>
            </a:r>
          </a:p>
          <a:p>
            <a:pPr marL="457200" indent="-457200">
              <a:buFont typeface="+mj-lt"/>
              <a:buAutoNum type="arabicPeriod"/>
              <a:defRPr sz="2000">
                <a:solidFill>
                  <a:srgbClr val="282828"/>
                </a:solidFill>
              </a:defRPr>
            </a:pPr>
            <a:r>
              <a:rPr sz="2800" dirty="0"/>
              <a:t>Resample to 5-minute intervals using mean</a:t>
            </a:r>
          </a:p>
          <a:p>
            <a:pPr marL="457200" indent="-457200">
              <a:buFont typeface="+mj-lt"/>
              <a:buAutoNum type="arabicPeriod"/>
              <a:defRPr sz="2000">
                <a:solidFill>
                  <a:srgbClr val="282828"/>
                </a:solidFill>
              </a:defRPr>
            </a:pPr>
            <a:r>
              <a:rPr sz="2800" dirty="0"/>
              <a:t>Merge </a:t>
            </a:r>
            <a:r>
              <a:rPr sz="2800" dirty="0" err="1"/>
              <a:t>Solar+Wind</a:t>
            </a:r>
            <a:r>
              <a:rPr sz="2800" dirty="0"/>
              <a:t> with </a:t>
            </a:r>
            <a:r>
              <a:rPr sz="2800" dirty="0" err="1"/>
              <a:t>Wind+Solar</a:t>
            </a:r>
            <a:r>
              <a:rPr sz="2800" dirty="0"/>
              <a:t> and drop duplicate column</a:t>
            </a:r>
          </a:p>
          <a:p>
            <a:pPr marL="457200" indent="-457200">
              <a:buFont typeface="+mj-lt"/>
              <a:buAutoNum type="arabicPeriod"/>
              <a:defRPr sz="2000">
                <a:solidFill>
                  <a:srgbClr val="282828"/>
                </a:solidFill>
              </a:defRPr>
            </a:pPr>
            <a:r>
              <a:rPr sz="2800" dirty="0"/>
              <a:t>Drop duplicate Solar column after correlation check</a:t>
            </a:r>
          </a:p>
          <a:p>
            <a:pPr marL="457200" indent="-457200">
              <a:buFont typeface="+mj-lt"/>
              <a:buAutoNum type="arabicPeriod"/>
              <a:defRPr sz="2000">
                <a:solidFill>
                  <a:srgbClr val="282828"/>
                </a:solidFill>
              </a:defRPr>
            </a:pPr>
            <a:r>
              <a:rPr sz="2800" dirty="0"/>
              <a:t>Rename columns to </a:t>
            </a:r>
            <a:r>
              <a:rPr sz="2800" dirty="0" err="1"/>
              <a:t>snake_case</a:t>
            </a:r>
            <a:endParaRPr sz="2800" dirty="0"/>
          </a:p>
          <a:p>
            <a:pPr marL="457200" indent="-457200">
              <a:buFont typeface="+mj-lt"/>
              <a:buAutoNum type="arabicPeriod"/>
              <a:defRPr sz="2000">
                <a:solidFill>
                  <a:srgbClr val="282828"/>
                </a:solidFill>
              </a:defRPr>
            </a:pPr>
            <a:r>
              <a:rPr sz="2800" dirty="0"/>
              <a:t>Clip negative solar and gas values to zero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F4E79"/>
                </a:solidFill>
              </a:rPr>
              <a:t>Feature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155680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9661235" cy="224676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457200" indent="-457200">
              <a:buFont typeface="+mj-lt"/>
              <a:buAutoNum type="arabicPeriod"/>
              <a:defRPr sz="2000">
                <a:solidFill>
                  <a:srgbClr val="282828"/>
                </a:solidFill>
              </a:defRPr>
            </a:pPr>
            <a:r>
              <a:rPr sz="2800" dirty="0"/>
              <a:t>Time features: hour, </a:t>
            </a:r>
            <a:r>
              <a:rPr sz="2800" dirty="0" err="1"/>
              <a:t>day_of_week</a:t>
            </a:r>
            <a:r>
              <a:rPr sz="2800" dirty="0"/>
              <a:t>, month</a:t>
            </a:r>
          </a:p>
          <a:p>
            <a:pPr marL="457200" indent="-457200">
              <a:buFont typeface="+mj-lt"/>
              <a:buAutoNum type="arabicPeriod"/>
              <a:defRPr sz="2000">
                <a:solidFill>
                  <a:srgbClr val="282828"/>
                </a:solidFill>
              </a:defRPr>
            </a:pPr>
            <a:r>
              <a:rPr sz="2800" dirty="0"/>
              <a:t>Peak-hour flag: 18:00 to 21:59</a:t>
            </a:r>
          </a:p>
          <a:p>
            <a:pPr marL="457200" indent="-457200">
              <a:buFont typeface="+mj-lt"/>
              <a:buAutoNum type="arabicPeriod"/>
              <a:defRPr sz="2000">
                <a:solidFill>
                  <a:srgbClr val="282828"/>
                </a:solidFill>
              </a:defRPr>
            </a:pPr>
            <a:r>
              <a:rPr sz="2800" dirty="0"/>
              <a:t>Seasons: summer, monsoon, </a:t>
            </a:r>
            <a:r>
              <a:rPr sz="2800" dirty="0" err="1"/>
              <a:t>post_monsoon</a:t>
            </a:r>
            <a:r>
              <a:rPr sz="2800" dirty="0"/>
              <a:t>, winter (one-hot)</a:t>
            </a:r>
          </a:p>
          <a:p>
            <a:pPr marL="457200" indent="-457200">
              <a:buFont typeface="+mj-lt"/>
              <a:buAutoNum type="arabicPeriod"/>
              <a:defRPr sz="2000">
                <a:solidFill>
                  <a:srgbClr val="282828"/>
                </a:solidFill>
              </a:defRPr>
            </a:pPr>
            <a:r>
              <a:rPr sz="2800" dirty="0"/>
              <a:t>Model features: generation mix + time + season dummies</a:t>
            </a:r>
          </a:p>
          <a:p>
            <a:pPr marL="457200" indent="-457200">
              <a:buFont typeface="+mj-lt"/>
              <a:buAutoNum type="arabicPeriod"/>
              <a:defRPr sz="2000">
                <a:solidFill>
                  <a:srgbClr val="282828"/>
                </a:solidFill>
              </a:defRPr>
            </a:pPr>
            <a:r>
              <a:rPr sz="2800" dirty="0"/>
              <a:t>Temporal split: first 80% train, last 20% test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F4E79"/>
                </a:solidFill>
              </a:rPr>
              <a:t>Daily Average Demand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155680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aily_avg_dem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789920" cy="44988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F4E79"/>
                </a:solidFill>
              </a:rPr>
              <a:t>Intraday and Monthly Patterns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155680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ntraday_demand_patte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10287000" cy="2647091"/>
          </a:xfrm>
          <a:prstGeom prst="rect">
            <a:avLst/>
          </a:prstGeom>
        </p:spPr>
      </p:pic>
      <p:pic>
        <p:nvPicPr>
          <p:cNvPr id="5" name="Picture 4" descr="monthly_demand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3959353"/>
            <a:ext cx="10085832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F4E79"/>
                </a:solidFill>
              </a:rPr>
              <a:t>Demand Distribution and Correlations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155680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emand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5486400" cy="4059936"/>
          </a:xfrm>
          <a:prstGeom prst="rect">
            <a:avLst/>
          </a:prstGeom>
        </p:spPr>
      </p:pic>
      <p:pic>
        <p:nvPicPr>
          <p:cNvPr id="5" name="Picture 4" descr="feature_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63040"/>
            <a:ext cx="5120640" cy="41521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F4E79"/>
                </a:solidFill>
              </a:rPr>
              <a:t>Linear Regression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155680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0664" y="146304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Baseline linear regression on engineered features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Train R2: 0.9920 | RMSE: 1917.36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Test R2: 0.9931 | RMSE: 1824.24</a:t>
            </a:r>
          </a:p>
        </p:txBody>
      </p:sp>
      <p:pic>
        <p:nvPicPr>
          <p:cNvPr id="5" name="Picture 4" descr="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79192"/>
            <a:ext cx="10607040" cy="40202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F4E79"/>
                </a:solidFill>
              </a:rPr>
              <a:t>Dimensionality Reduction (SVD and PCA)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155680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0664" y="146304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Truncated SVD (11 components): Test R2 0.9174 | RMSE 6306.89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PCA (95% variance, 11 components): Test R2 0.9174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Cumulative explained variance: 96.5%</a:t>
            </a:r>
          </a:p>
        </p:txBody>
      </p:sp>
      <p:pic>
        <p:nvPicPr>
          <p:cNvPr id="5" name="Picture 4" descr="pca_scree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0"/>
            <a:ext cx="5486400" cy="3731705"/>
          </a:xfrm>
          <a:prstGeom prst="rect">
            <a:avLst/>
          </a:prstGeom>
        </p:spPr>
      </p:pic>
      <p:pic>
        <p:nvPicPr>
          <p:cNvPr id="6" name="Picture 5" descr="pca_loadings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2834639"/>
            <a:ext cx="5486400" cy="37317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F4E79"/>
                </a:solidFill>
              </a:rP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1155680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961034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rPr sz="3200" dirty="0"/>
              <a:t>Demand strongly aligns with total generation mix and time features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sz="3200" dirty="0"/>
              <a:t>Baseline linear regression performs best on this feature set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sz="3200" dirty="0"/>
              <a:t>SVD/PCA reduce dimensionality but lower predictive accuracy</a:t>
            </a:r>
            <a:r>
              <a:rPr lang="en-IN" sz="3200" dirty="0"/>
              <a:t>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lang="en-IN" sz="3200" b="1" dirty="0"/>
              <a:t>Key Flaw: </a:t>
            </a:r>
            <a:r>
              <a:rPr lang="en-IN" sz="3200" dirty="0"/>
              <a:t>Need production data to predict demand. </a:t>
            </a:r>
            <a:endParaRPr sz="3200"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sz="3200" b="1" dirty="0"/>
              <a:t>Future work: </a:t>
            </a:r>
            <a:r>
              <a:rPr lang="en-IN" sz="3200" dirty="0"/>
              <a:t>Fix key flaw,</a:t>
            </a:r>
            <a:r>
              <a:rPr sz="3200" dirty="0"/>
              <a:t>add weather, holidays, and regional demand signals</a:t>
            </a:r>
            <a:r>
              <a:rPr lang="en-IN" sz="3200" dirty="0"/>
              <a:t>, use torque for other predictions.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362</Words>
  <Application>Microsoft Office PowerPoint</Application>
  <PresentationFormat>Widescreen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abdul nafih</cp:lastModifiedBy>
  <cp:revision>2</cp:revision>
  <dcterms:created xsi:type="dcterms:W3CDTF">2013-01-27T09:14:16Z</dcterms:created>
  <dcterms:modified xsi:type="dcterms:W3CDTF">2026-03-11T05:06:27Z</dcterms:modified>
  <cp:category/>
</cp:coreProperties>
</file>